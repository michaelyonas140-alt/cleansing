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 Bold" charset="1" panose="02000503000000020004"/>
      <p:regular r:id="rId12"/>
    </p:embeddedFont>
    <p:embeddedFont>
      <p:font typeface="Roboto" charset="1" panose="02000000000000000000"/>
      <p:regular r:id="rId13"/>
    </p:embeddedFont>
    <p:embeddedFont>
      <p:font typeface="Inter Semi-Bold" charset="1" panose="02000503000000020004"/>
      <p:regular r:id="rId14"/>
    </p:embeddedFont>
    <p:embeddedFont>
      <p:font typeface="Fira Code" charset="1" panose="020B0809050000020004"/>
      <p:regular r:id="rId15"/>
    </p:embeddedFont>
    <p:embeddedFont>
      <p:font typeface="Fira Code Light" charset="1" panose="020B0809050000020004"/>
      <p:regular r:id="rId16"/>
    </p:embeddedFont>
    <p:embeddedFont>
      <p:font typeface="Roboto Bold" charset="1" panose="02000000000000000000"/>
      <p:regular r:id="rId17"/>
    </p:embeddedFont>
    <p:embeddedFont>
      <p:font typeface="Inter Medium" charset="1" panose="02000503000000020004"/>
      <p:regular r:id="rId18"/>
    </p:embeddedFont>
    <p:embeddedFont>
      <p:font typeface="Inter" charset="1" panose="02000503000000020004"/>
      <p:regular r:id="rId19"/>
    </p:embeddedFont>
    <p:embeddedFont>
      <p:font typeface="Inter Italics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15.png" Type="http://schemas.openxmlformats.org/officeDocument/2006/relationships/image"/><Relationship Id="rId20" Target="../media/image33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4086" y="5990729"/>
            <a:ext cx="3281340" cy="229572"/>
          </a:xfrm>
          <a:custGeom>
            <a:avLst/>
            <a:gdLst/>
            <a:ahLst/>
            <a:cxnLst/>
            <a:rect r="r" b="b" t="t" l="l"/>
            <a:pathLst>
              <a:path h="229572" w="3281340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337507" y="105433"/>
            <a:ext cx="1843586" cy="184358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041" y="1103426"/>
            <a:ext cx="7715424" cy="340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128" spc="-404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Cleansing dan Data Enrichment pada 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3368" y="4537008"/>
            <a:ext cx="6782682" cy="11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sz="8046" spc="-400" b="true">
                <a:solidFill>
                  <a:srgbClr val="46C9AB"/>
                </a:solidFill>
                <a:latin typeface="Inter Bold"/>
                <a:ea typeface="Inter Bold"/>
                <a:cs typeface="Inter Bold"/>
                <a:sym typeface="Inter Bold"/>
              </a:rPr>
              <a:t>Creditcard.csv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701" y="6596717"/>
            <a:ext cx="6549444" cy="10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62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Proses Memuat, Memeriksa,</a:t>
            </a:r>
          </a:p>
          <a:p>
            <a:pPr algn="l">
              <a:lnSpc>
                <a:spcPts val="4032"/>
              </a:lnSpc>
            </a:pPr>
            <a:r>
              <a:rPr lang="en-US" sz="3102" spc="-62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dan Menyiapkan Data untuk Analisis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09856" y="6596717"/>
            <a:ext cx="6549444" cy="101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3102" spc="-62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Nama : Miichael Yonas Mae</a:t>
            </a:r>
          </a:p>
          <a:p>
            <a:pPr algn="l">
              <a:lnSpc>
                <a:spcPts val="4032"/>
              </a:lnSpc>
            </a:pPr>
            <a:r>
              <a:rPr lang="en-US" sz="3102" spc="-62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Nim : 2218010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1405" y="780361"/>
            <a:ext cx="5474383" cy="261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831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Memuat Data dengan Python dan </a:t>
            </a:r>
            <a:r>
              <a:rPr lang="en-US" sz="5831" b="true">
                <a:solidFill>
                  <a:srgbClr val="41BCA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pandas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6148" y="4109975"/>
            <a:ext cx="6161484" cy="3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Data creditcard.csv dibaca dengan pd.read_csv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6148" y="5998158"/>
            <a:ext cx="6161484" cy="80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Preview 5 baris pertama dengan 31 kolom</a:t>
            </a:r>
          </a:p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Time, V1 sampai V6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6148" y="7368695"/>
            <a:ext cx="6161484" cy="80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Data telah siap diakses dan siap untuk</a:t>
            </a:r>
          </a:p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proses berikutnya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393952" y="207708"/>
            <a:ext cx="10467474" cy="9652945"/>
          </a:xfrm>
          <a:custGeom>
            <a:avLst/>
            <a:gdLst/>
            <a:ahLst/>
            <a:cxnLst/>
            <a:rect r="r" b="b" t="t" l="l"/>
            <a:pathLst>
              <a:path h="9652945" w="10467474">
                <a:moveTo>
                  <a:pt x="0" y="0"/>
                </a:moveTo>
                <a:lnTo>
                  <a:pt x="10467474" y="0"/>
                </a:lnTo>
                <a:lnTo>
                  <a:pt x="10467474" y="9652944"/>
                </a:lnTo>
                <a:lnTo>
                  <a:pt x="0" y="9652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90927" y="618607"/>
            <a:ext cx="4395564" cy="43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1. Memuat Data (Loading Data)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798842" y="634055"/>
            <a:ext cx="2625072" cy="448211"/>
          </a:xfrm>
          <a:custGeom>
            <a:avLst/>
            <a:gdLst/>
            <a:ahLst/>
            <a:cxnLst/>
            <a:rect r="r" b="b" t="t" l="l"/>
            <a:pathLst>
              <a:path h="448211" w="2625072">
                <a:moveTo>
                  <a:pt x="0" y="0"/>
                </a:moveTo>
                <a:lnTo>
                  <a:pt x="2625072" y="0"/>
                </a:lnTo>
                <a:lnTo>
                  <a:pt x="262507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12708" y="14976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33047" y="2424305"/>
            <a:ext cx="3229648" cy="30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4F4F4"/>
                </a:solidFill>
                <a:latin typeface="Fira Code"/>
                <a:ea typeface="Fira Code"/>
                <a:cs typeface="Fira Code"/>
                <a:sym typeface="Fira Code"/>
              </a:rPr>
              <a:t>'/content/creditcard.csv'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2025" y="2942835"/>
            <a:ext cx="4900614" cy="2107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71">
                <a:solidFill>
                  <a:srgbClr val="A6B6C6"/>
                </a:solidFill>
                <a:latin typeface="Fira Code"/>
                <a:ea typeface="Fira Code"/>
                <a:cs typeface="Fira Code"/>
                <a:sym typeface="Fira Code"/>
              </a:rPr>
              <a:t>file path = </a:t>
            </a:r>
            <a:r>
              <a:rPr lang="en-US" sz="1784" spc="-71">
                <a:solidFill>
                  <a:srgbClr val="9B6451"/>
                </a:solidFill>
                <a:latin typeface="Fira Code"/>
                <a:ea typeface="Fira Code"/>
                <a:cs typeface="Fira Code"/>
                <a:sym typeface="Fira Code"/>
              </a:rPr>
              <a:t>'/content/creditcard.csv'</a:t>
            </a:r>
          </a:p>
          <a:p>
            <a:pPr algn="l">
              <a:lnSpc>
                <a:spcPts val="2497"/>
              </a:lnSpc>
            </a:pPr>
            <a:r>
              <a:rPr lang="en-US" sz="1784" spc="-71">
                <a:solidFill>
                  <a:srgbClr val="B881A8"/>
                </a:solidFill>
                <a:latin typeface="Fira Code"/>
                <a:ea typeface="Fira Code"/>
                <a:cs typeface="Fira Code"/>
                <a:sym typeface="Fira Code"/>
              </a:rPr>
              <a:t>try:</a:t>
            </a:r>
          </a:p>
          <a:p>
            <a:pPr algn="l">
              <a:lnSpc>
                <a:spcPts val="2497"/>
              </a:lnSpc>
            </a:pPr>
            <a:r>
              <a:rPr lang="en-US" sz="1784" spc="-71">
                <a:solidFill>
                  <a:srgbClr val="F4F4F4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 df = pd.read_csv(file_path)</a:t>
            </a:r>
          </a:p>
          <a:p>
            <a:pPr algn="l">
              <a:lnSpc>
                <a:spcPts val="2497"/>
              </a:lnSpc>
            </a:pPr>
            <a:r>
              <a:rPr lang="en-US" sz="1784" spc="-71">
                <a:solidFill>
                  <a:srgbClr val="9B645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 print("Data berhasil dimuat!")</a:t>
            </a:r>
          </a:p>
          <a:p>
            <a:pPr algn="l">
              <a:lnSpc>
                <a:spcPts val="2497"/>
              </a:lnSpc>
            </a:pPr>
            <a:r>
              <a:rPr lang="en-US" sz="1784" spc="-71">
                <a:solidFill>
                  <a:srgbClr val="A6B6C6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 display(df.head()</a:t>
            </a:r>
          </a:p>
          <a:p>
            <a:pPr algn="l">
              <a:lnSpc>
                <a:spcPts val="2497"/>
              </a:lnSpc>
            </a:pPr>
            <a:r>
              <a:rPr lang="en-US" sz="1784" spc="-71">
                <a:solidFill>
                  <a:srgbClr val="B881A8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except Exception as e:</a:t>
            </a:r>
          </a:p>
          <a:p>
            <a:pPr algn="l">
              <a:lnSpc>
                <a:spcPts val="2497"/>
              </a:lnSpc>
            </a:pPr>
            <a:r>
              <a:rPr lang="en-US" sz="1784" spc="-71">
                <a:solidFill>
                  <a:srgbClr val="A6B6C6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 print(f</a:t>
            </a:r>
            <a:r>
              <a:rPr lang="en-US" sz="1784" spc="-71">
                <a:solidFill>
                  <a:srgbClr val="9B645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"Gagal memuat data:</a:t>
            </a:r>
            <a:r>
              <a:rPr lang="en-US" sz="1784" spc="-71">
                <a:solidFill>
                  <a:srgbClr val="A6B6C6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{e}</a:t>
            </a:r>
            <a:r>
              <a:rPr lang="en-US" sz="1784" spc="-71">
                <a:solidFill>
                  <a:srgbClr val="9B645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")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02586" y="5451534"/>
            <a:ext cx="3229648" cy="30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4F4F4"/>
                </a:solidFill>
                <a:latin typeface="Fira Code"/>
                <a:ea typeface="Fira Code"/>
                <a:cs typeface="Fira Code"/>
                <a:sym typeface="Fira Code"/>
              </a:rPr>
              <a:t>**  Data berhasil dimuat!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7537" y="9046863"/>
            <a:ext cx="2349465" cy="35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5 rows × 31 columns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82793" y="5848652"/>
            <a:ext cx="6823864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        Time            V1            V2            V3            V4            V5            V6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6148" y="5058808"/>
            <a:ext cx="6161484" cy="3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Data </a:t>
            </a:r>
            <a:r>
              <a:rPr lang="en-US" sz="2188">
                <a:solidFill>
                  <a:srgbClr val="41BCA4"/>
                </a:solidFill>
                <a:latin typeface="Roboto"/>
                <a:ea typeface="Roboto"/>
                <a:cs typeface="Roboto"/>
                <a:sym typeface="Roboto"/>
              </a:rPr>
              <a:t>berhasil</a:t>
            </a:r>
            <a:r>
              <a:rPr lang="en-US" sz="218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dimuat!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47258" y="1535715"/>
            <a:ext cx="1808603" cy="30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4F4F4"/>
                </a:solidFill>
                <a:latin typeface="Fira Code"/>
                <a:ea typeface="Fira Code"/>
                <a:cs typeface="Fira Code"/>
                <a:sym typeface="Fira Code"/>
              </a:rPr>
              <a:t>str: file path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79914" y="1978016"/>
            <a:ext cx="506264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u="sng" b="true">
                <a:solidFill>
                  <a:srgbClr val="3667A2"/>
                </a:solidFill>
                <a:latin typeface="Roboto Bold"/>
                <a:ea typeface="Roboto Bold"/>
                <a:cs typeface="Roboto Bold"/>
                <a:sym typeface="Roboto Bold"/>
              </a:rPr>
              <a:t>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7517" y="891322"/>
            <a:ext cx="8899895" cy="20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6755" spc="-135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Memeriksa Data Awal pada </a:t>
            </a:r>
            <a:r>
              <a:rPr lang="en-US" sz="6755" spc="-135" b="true">
                <a:solidFill>
                  <a:srgbClr val="3DB2A0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Dataset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421712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3602" y="3572232"/>
            <a:ext cx="5759345" cy="91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 spc="-47" b="true">
                <a:solidFill>
                  <a:srgbClr val="3DB2A0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Preview data</a:t>
            </a:r>
            <a:r>
              <a:rPr lang="en-US" sz="2351" spc="-4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adalah verifikasi awal untuk memastikan data berhasil dimuat.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91939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9044" y="5099023"/>
            <a:ext cx="6215087" cy="47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43" spc="-48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Dataset menampilkan </a:t>
            </a:r>
            <a:r>
              <a:rPr lang="en-US" sz="2443" spc="-48" b="true">
                <a:solidFill>
                  <a:srgbClr val="3DB2A0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5 rows x 31 columns</a:t>
            </a:r>
            <a:r>
              <a:rPr lang="en-US" sz="2443" spc="-48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99072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2425" y="6132574"/>
            <a:ext cx="2877046" cy="91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 spc="-4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Kolom yang terlihat:</a:t>
            </a:r>
          </a:p>
          <a:p>
            <a:pPr algn="l">
              <a:lnSpc>
                <a:spcPts val="3760"/>
              </a:lnSpc>
            </a:pPr>
            <a:r>
              <a:rPr lang="en-US" sz="2351" spc="-47" b="true">
                <a:solidFill>
                  <a:srgbClr val="3DB2A0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Time, V1, V2, …, V6.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7499343"/>
            <a:ext cx="229694" cy="1289974"/>
          </a:xfrm>
          <a:custGeom>
            <a:avLst/>
            <a:gdLst/>
            <a:ahLst/>
            <a:cxnLst/>
            <a:rect r="r" b="b" t="t" l="l"/>
            <a:pathLst>
              <a:path h="1289974" w="229694">
                <a:moveTo>
                  <a:pt x="0" y="0"/>
                </a:moveTo>
                <a:lnTo>
                  <a:pt x="229694" y="0"/>
                </a:lnTo>
                <a:lnTo>
                  <a:pt x="22969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0274" y="7668780"/>
            <a:ext cx="5092084" cy="91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 spc="-4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Lanjutkan pemeriksaan kualitas:</a:t>
            </a:r>
          </a:p>
          <a:p>
            <a:pPr algn="l">
              <a:lnSpc>
                <a:spcPts val="3760"/>
              </a:lnSpc>
            </a:pPr>
            <a:r>
              <a:rPr lang="en-US" sz="2351" spc="-47" b="true">
                <a:solidFill>
                  <a:srgbClr val="3DB2A0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nilai hilang, tipe data, dan distribusi.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12708" y="2995365"/>
            <a:ext cx="10029962" cy="5367606"/>
          </a:xfrm>
          <a:custGeom>
            <a:avLst/>
            <a:gdLst/>
            <a:ahLst/>
            <a:cxnLst/>
            <a:rect r="r" b="b" t="t" l="l"/>
            <a:pathLst>
              <a:path h="5367606" w="10029962">
                <a:moveTo>
                  <a:pt x="0" y="0"/>
                </a:moveTo>
                <a:lnTo>
                  <a:pt x="10029962" y="0"/>
                </a:lnTo>
                <a:lnTo>
                  <a:pt x="1002996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096034" y="3414656"/>
            <a:ext cx="2105221" cy="3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 b="true">
                <a:solidFill>
                  <a:srgbClr val="3DB2A0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 rows x 31 columns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831464" y="3848060"/>
            <a:ext cx="9811206" cy="874559"/>
          </a:xfrm>
          <a:custGeom>
            <a:avLst/>
            <a:gdLst/>
            <a:ahLst/>
            <a:cxnLst/>
            <a:rect r="r" b="b" t="t" l="l"/>
            <a:pathLst>
              <a:path h="874559" w="9811206">
                <a:moveTo>
                  <a:pt x="0" y="0"/>
                </a:moveTo>
                <a:lnTo>
                  <a:pt x="9811206" y="0"/>
                </a:lnTo>
                <a:lnTo>
                  <a:pt x="9811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94225" y="4770131"/>
            <a:ext cx="9075107" cy="3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0.0        -1.359807        -0.072781        2.536347        1.378155        -0.338321        0.462388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97165" y="5447869"/>
            <a:ext cx="8781130" cy="3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0.0        1.191857        0.266151        0.166480        0.448154        0.060018        -0.082361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94763" y="6125607"/>
            <a:ext cx="9021383" cy="3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1.0        -1.358354        -1.340163        1.773209        0.379780        -0.503198        1.800499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93692" y="6803463"/>
            <a:ext cx="9128408" cy="3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1.0        -0.966272        -0.185226        1.792993        -0.863291        -0.010309        1.247203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95542" y="7481083"/>
            <a:ext cx="8943413" cy="3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2.0        -1.158233        0.877737        1.548718        0.403034        -0.407193        0.095921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91318" y="4077333"/>
            <a:ext cx="5971373" cy="3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 b="true">
                <a:solidFill>
                  <a:srgbClr val="66D6C1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Time            V1            V2            V3            V4            V5            V6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3059" y="213825"/>
            <a:ext cx="3097983" cy="95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0"/>
              </a:lnSpc>
            </a:pPr>
            <a:r>
              <a:rPr lang="en-US" sz="5693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Tahapan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0585" y="1057232"/>
            <a:ext cx="5345398" cy="95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0"/>
              </a:lnSpc>
            </a:pPr>
            <a:r>
              <a:rPr lang="en-US" sz="5693" b="true">
                <a:solidFill>
                  <a:srgbClr val="38C1A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Cleansing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8700" y="1885579"/>
            <a:ext cx="8533944" cy="95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0"/>
              </a:lnSpc>
            </a:pPr>
            <a:r>
              <a:rPr lang="en-US" sz="5693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yang Direkomendasikan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995365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6079" y="3216187"/>
            <a:ext cx="542229" cy="6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4"/>
              </a:lnSpc>
            </a:pPr>
            <a:r>
              <a:rPr lang="en-US" sz="3717" b="true">
                <a:solidFill>
                  <a:srgbClr val="38C1A9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39110" y="3848060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4086" y="4066699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15029" y="4158326"/>
            <a:ext cx="644331" cy="65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 b="true">
                <a:solidFill>
                  <a:srgbClr val="38C1A9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39110" y="4711687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4086" y="4919394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10940" y="5107159"/>
            <a:ext cx="652509" cy="65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 b="true">
                <a:solidFill>
                  <a:srgbClr val="38C1A9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39110" y="5783021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4086" y="5990729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03257" y="6055992"/>
            <a:ext cx="667874" cy="65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 b="true">
                <a:solidFill>
                  <a:srgbClr val="38C1A9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39110" y="6635716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64086" y="6854356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16763" y="7004825"/>
            <a:ext cx="640861" cy="65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 b="true">
                <a:solidFill>
                  <a:srgbClr val="38C1A9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39110" y="7707051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4086" y="7707051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10568" y="7968719"/>
            <a:ext cx="653252" cy="65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 b="true">
                <a:solidFill>
                  <a:srgbClr val="38C1A9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821952" y="2995365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821952" y="406669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821952" y="4919394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821952" y="5990729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821952" y="6854356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821952" y="7707051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457252" y="3373775"/>
            <a:ext cx="5211538" cy="39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Deteksi dan penanganan nilai hilang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74976" y="4337669"/>
            <a:ext cx="3439128" cy="39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Validasi tipe data kolom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58699" y="5271441"/>
            <a:ext cx="5066799" cy="39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Identifikasi dan penanganan outlier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36331" y="6220274"/>
            <a:ext cx="7303627" cy="39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Normalisasi atau standardisasi data jika diperlukan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51747" y="7169107"/>
            <a:ext cx="5761976" cy="39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Verifikasi konsistensi dan duplikasi 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8602" y="8117940"/>
            <a:ext cx="5076559" cy="39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Data siap untuk analisis yang andal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64086" y="8997026"/>
            <a:ext cx="16559828" cy="1082267"/>
          </a:xfrm>
          <a:custGeom>
            <a:avLst/>
            <a:gdLst/>
            <a:ahLst/>
            <a:cxnLst/>
            <a:rect r="r" b="b" t="t" l="l"/>
            <a:pathLst>
              <a:path h="1082267" w="16559828">
                <a:moveTo>
                  <a:pt x="0" y="0"/>
                </a:moveTo>
                <a:lnTo>
                  <a:pt x="16559828" y="0"/>
                </a:lnTo>
                <a:lnTo>
                  <a:pt x="16559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076518" y="9322887"/>
            <a:ext cx="11887254" cy="4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sz="2707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Cleansing adalah langkah </a:t>
            </a:r>
            <a:r>
              <a:rPr lang="en-US" sz="2707" b="true">
                <a:solidFill>
                  <a:srgbClr val="38C1A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persiapan wajib</a:t>
            </a:r>
            <a:r>
              <a:rPr lang="en-US" sz="2707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sebelum analisis lebih lanjut.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4007" y="1000981"/>
            <a:ext cx="8571969" cy="255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3"/>
              </a:lnSpc>
            </a:pPr>
            <a:r>
              <a:rPr lang="en-US" sz="6395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Strategi</a:t>
            </a:r>
          </a:p>
          <a:p>
            <a:pPr algn="l">
              <a:lnSpc>
                <a:spcPts val="6713"/>
              </a:lnSpc>
            </a:pPr>
            <a:r>
              <a:rPr lang="en-US" sz="6395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Data </a:t>
            </a:r>
            <a:r>
              <a:rPr lang="en-US" sz="6395" b="true">
                <a:solidFill>
                  <a:srgbClr val="3FBAA2"/>
                </a:solidFill>
                <a:latin typeface="Inter Bold"/>
                <a:ea typeface="Inter Bold"/>
                <a:cs typeface="Inter Bold"/>
                <a:sym typeface="Inter Bold"/>
              </a:rPr>
              <a:t>Enrichment</a:t>
            </a:r>
          </a:p>
          <a:p>
            <a:pPr algn="l">
              <a:lnSpc>
                <a:spcPts val="6713"/>
              </a:lnSpc>
            </a:pPr>
            <a:r>
              <a:rPr lang="en-US" sz="6395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yang Dapat Dilakukan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6161" y="4259871"/>
            <a:ext cx="7356552" cy="105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896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Langkah-langkah untuk menambah nilai</a:t>
            </a:r>
          </a:p>
          <a:p>
            <a:pPr algn="l">
              <a:lnSpc>
                <a:spcPts val="4344"/>
              </a:lnSpc>
            </a:pPr>
            <a:r>
              <a:rPr lang="en-US" sz="2896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dan memaksimalkan informasi dari dataset.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6428009"/>
            <a:ext cx="8072096" cy="3224936"/>
          </a:xfrm>
          <a:custGeom>
            <a:avLst/>
            <a:gdLst/>
            <a:ahLst/>
            <a:cxnLst/>
            <a:rect r="r" b="b" t="t" l="l"/>
            <a:pathLst>
              <a:path h="3224936" w="8072096">
                <a:moveTo>
                  <a:pt x="0" y="0"/>
                </a:moveTo>
                <a:lnTo>
                  <a:pt x="8072096" y="0"/>
                </a:lnTo>
                <a:lnTo>
                  <a:pt x="807209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8091" y="7051495"/>
            <a:ext cx="6383826" cy="175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b="true">
                <a:solidFill>
                  <a:srgbClr val="3FBAA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Tujuan: </a:t>
            </a:r>
            <a:r>
              <a:rPr lang="en-US" sz="3168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memaksimalkan informasi</a:t>
            </a:r>
          </a:p>
          <a:p>
            <a:pPr algn="l">
              <a:lnSpc>
                <a:spcPts val="4752"/>
              </a:lnSpc>
            </a:pPr>
            <a:r>
              <a:rPr lang="en-US" sz="3168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dari dataset dengan menambah</a:t>
            </a:r>
          </a:p>
          <a:p>
            <a:pPr algn="l">
              <a:lnSpc>
                <a:spcPts val="4752"/>
              </a:lnSpc>
            </a:pPr>
            <a:r>
              <a:rPr lang="en-US" sz="3168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kualitas dan kedalaman analisis.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789330" y="634055"/>
            <a:ext cx="7853340" cy="1945894"/>
          </a:xfrm>
          <a:custGeom>
            <a:avLst/>
            <a:gdLst/>
            <a:ahLst/>
            <a:cxnLst/>
            <a:rect r="r" b="b" t="t" l="l"/>
            <a:pathLst>
              <a:path h="1945894" w="7853340">
                <a:moveTo>
                  <a:pt x="0" y="0"/>
                </a:moveTo>
                <a:lnTo>
                  <a:pt x="7853340" y="0"/>
                </a:lnTo>
                <a:lnTo>
                  <a:pt x="785334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98160" y="1218101"/>
            <a:ext cx="936193" cy="85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287" b="true">
                <a:solidFill>
                  <a:srgbClr val="3FBAA2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00928" y="1033146"/>
            <a:ext cx="3983726" cy="1172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Penambahan fitur baru</a:t>
            </a:r>
          </a:p>
          <a:p>
            <a:pPr algn="l">
              <a:lnSpc>
                <a:spcPts val="3119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berdasarkan kolom yang ada</a:t>
            </a:r>
          </a:p>
          <a:p>
            <a:pPr algn="l">
              <a:lnSpc>
                <a:spcPts val="3119"/>
              </a:lnSpc>
            </a:pPr>
            <a:r>
              <a:rPr lang="en-US" sz="2311" i="true">
                <a:solidFill>
                  <a:srgbClr val="FFFFFF">
                    <a:alpha val="89804"/>
                  </a:srgbClr>
                </a:solidFill>
                <a:latin typeface="Inter Italics"/>
                <a:ea typeface="Inter Italics"/>
                <a:cs typeface="Inter Italics"/>
                <a:sym typeface="Inter Italics"/>
              </a:rPr>
              <a:t>(feature engineering)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59732" y="2142670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89330" y="2569017"/>
            <a:ext cx="7853340" cy="1727254"/>
          </a:xfrm>
          <a:custGeom>
            <a:avLst/>
            <a:gdLst/>
            <a:ahLst/>
            <a:cxnLst/>
            <a:rect r="r" b="b" t="t" l="l"/>
            <a:pathLst>
              <a:path h="1727254" w="7853340">
                <a:moveTo>
                  <a:pt x="0" y="0"/>
                </a:moveTo>
                <a:lnTo>
                  <a:pt x="7853340" y="0"/>
                </a:lnTo>
                <a:lnTo>
                  <a:pt x="7853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98160" y="3117632"/>
            <a:ext cx="936193" cy="78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0"/>
              </a:lnSpc>
            </a:pPr>
            <a:r>
              <a:rPr lang="en-US" sz="5677" b="true">
                <a:solidFill>
                  <a:srgbClr val="3FBAA2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06935" y="3036500"/>
            <a:ext cx="3383067" cy="8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443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Integrasi data eksternal</a:t>
            </a:r>
          </a:p>
          <a:p>
            <a:pPr algn="l">
              <a:lnSpc>
                <a:spcPts val="3297"/>
              </a:lnSpc>
            </a:pPr>
            <a:r>
              <a:rPr lang="en-US" sz="2443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jika relevan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059732" y="40666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89330" y="4493047"/>
            <a:ext cx="7853340" cy="1727254"/>
          </a:xfrm>
          <a:custGeom>
            <a:avLst/>
            <a:gdLst/>
            <a:ahLst/>
            <a:cxnLst/>
            <a:rect r="r" b="b" t="t" l="l"/>
            <a:pathLst>
              <a:path h="1727254" w="7853340">
                <a:moveTo>
                  <a:pt x="0" y="0"/>
                </a:moveTo>
                <a:lnTo>
                  <a:pt x="7853340" y="0"/>
                </a:lnTo>
                <a:lnTo>
                  <a:pt x="7853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98160" y="4974280"/>
            <a:ext cx="936193" cy="75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</a:pPr>
            <a:r>
              <a:rPr lang="en-US" sz="5596" b="true">
                <a:solidFill>
                  <a:srgbClr val="3FBAA2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96501" y="4843801"/>
            <a:ext cx="4426481" cy="8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443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Transformasi variabel untuk</a:t>
            </a:r>
          </a:p>
          <a:p>
            <a:pPr algn="l">
              <a:lnSpc>
                <a:spcPts val="3297"/>
              </a:lnSpc>
            </a:pPr>
            <a:r>
              <a:rPr lang="en-US" sz="2443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meningkatkan kualitas analisis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59732" y="5783021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89330" y="6209369"/>
            <a:ext cx="7853340" cy="1727254"/>
          </a:xfrm>
          <a:custGeom>
            <a:avLst/>
            <a:gdLst/>
            <a:ahLst/>
            <a:cxnLst/>
            <a:rect r="r" b="b" t="t" l="l"/>
            <a:pathLst>
              <a:path h="1727254" w="7853340">
                <a:moveTo>
                  <a:pt x="0" y="0"/>
                </a:moveTo>
                <a:lnTo>
                  <a:pt x="7853340" y="0"/>
                </a:lnTo>
                <a:lnTo>
                  <a:pt x="7853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98160" y="6761546"/>
            <a:ext cx="936193" cy="73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7"/>
              </a:lnSpc>
            </a:pPr>
            <a:r>
              <a:rPr lang="en-US" sz="5474" b="true">
                <a:solidFill>
                  <a:srgbClr val="3FBAA2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88123" y="6620563"/>
            <a:ext cx="5264218" cy="81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3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Penggunaan teknik seperti</a:t>
            </a:r>
          </a:p>
          <a:p>
            <a:pPr algn="l">
              <a:lnSpc>
                <a:spcPts val="3238"/>
              </a:lnSpc>
            </a:pPr>
            <a:r>
              <a:rPr lang="en-US" sz="2399" i="true">
                <a:solidFill>
                  <a:srgbClr val="FFFFFF">
                    <a:alpha val="89804"/>
                  </a:srgbClr>
                </a:solidFill>
                <a:latin typeface="Inter Italics"/>
                <a:ea typeface="Inter Italics"/>
                <a:cs typeface="Inter Italics"/>
                <a:sym typeface="Inter Italics"/>
              </a:rPr>
              <a:t>encoding </a:t>
            </a:r>
            <a:r>
              <a:rPr lang="en-US" sz="23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atau </a:t>
            </a:r>
            <a:r>
              <a:rPr lang="en-US" sz="2399" i="true">
                <a:solidFill>
                  <a:srgbClr val="FFFFFF">
                    <a:alpha val="89804"/>
                  </a:srgbClr>
                </a:solidFill>
                <a:latin typeface="Inter Italics"/>
                <a:ea typeface="Inter Italics"/>
                <a:cs typeface="Inter Italics"/>
                <a:sym typeface="Inter Italics"/>
              </a:rPr>
              <a:t>scaling </a:t>
            </a:r>
            <a:r>
              <a:rPr lang="en-US" sz="23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jika diperlukan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059732" y="7499343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89330" y="7925691"/>
            <a:ext cx="7853340" cy="1727254"/>
          </a:xfrm>
          <a:custGeom>
            <a:avLst/>
            <a:gdLst/>
            <a:ahLst/>
            <a:cxnLst/>
            <a:rect r="r" b="b" t="t" l="l"/>
            <a:pathLst>
              <a:path h="1727254" w="7853340">
                <a:moveTo>
                  <a:pt x="0" y="0"/>
                </a:moveTo>
                <a:lnTo>
                  <a:pt x="7853340" y="0"/>
                </a:lnTo>
                <a:lnTo>
                  <a:pt x="7853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98160" y="8463843"/>
            <a:ext cx="936193" cy="78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3"/>
              </a:lnSpc>
            </a:pPr>
            <a:r>
              <a:rPr lang="en-US" sz="5718" b="true">
                <a:solidFill>
                  <a:srgbClr val="3FBAA2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89883" y="8340382"/>
            <a:ext cx="5088245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2355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Hasil: data lebih kaya,</a:t>
            </a:r>
          </a:p>
          <a:p>
            <a:pPr algn="l">
              <a:lnSpc>
                <a:spcPts val="3178"/>
              </a:lnSpc>
            </a:pPr>
            <a:r>
              <a:rPr lang="en-US" sz="2355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siap untuk analisis yang lebih akurat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07051"/>
            <a:ext cx="18288000" cy="2579949"/>
          </a:xfrm>
          <a:custGeom>
            <a:avLst/>
            <a:gdLst/>
            <a:ahLst/>
            <a:cxnLst/>
            <a:rect r="r" b="b" t="t" l="l"/>
            <a:pathLst>
              <a:path h="2579949" w="18288000">
                <a:moveTo>
                  <a:pt x="0" y="0"/>
                </a:moveTo>
                <a:lnTo>
                  <a:pt x="18288000" y="0"/>
                </a:lnTo>
                <a:lnTo>
                  <a:pt x="1828800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954" y="672003"/>
            <a:ext cx="8698302" cy="20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7"/>
              </a:lnSpc>
            </a:pPr>
            <a:r>
              <a:rPr lang="en-US" sz="7264" spc="-216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Kesimpulan dan Langkah Selanjutnya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6148" y="3455302"/>
            <a:ext cx="5678990" cy="101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8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Data creditcard.csv </a:t>
            </a:r>
            <a:r>
              <a:rPr lang="en-US" sz="2759" spc="-82" b="true">
                <a:solidFill>
                  <a:srgbClr val="38A88F"/>
                </a:solidFill>
                <a:latin typeface="Inter Bold"/>
                <a:ea typeface="Inter Bold"/>
                <a:cs typeface="Inter Bold"/>
                <a:sym typeface="Inter Bold"/>
              </a:rPr>
              <a:t>berhasil dimuat</a:t>
            </a:r>
          </a:p>
          <a:p>
            <a:pPr algn="l">
              <a:lnSpc>
                <a:spcPts val="4139"/>
              </a:lnSpc>
            </a:pPr>
            <a:r>
              <a:rPr lang="en-US" sz="2759" spc="-8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dan dicek secara awal.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8501" y="5051751"/>
            <a:ext cx="6443643" cy="101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82" b="true">
                <a:solidFill>
                  <a:srgbClr val="38A88F"/>
                </a:solidFill>
                <a:latin typeface="Inter Bold"/>
                <a:ea typeface="Inter Bold"/>
                <a:cs typeface="Inter Bold"/>
                <a:sym typeface="Inter Bold"/>
              </a:rPr>
              <a:t>Cleansing</a:t>
            </a:r>
            <a:r>
              <a:rPr lang="en-US" sz="2759" spc="-8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2759" spc="-82" b="true">
                <a:solidFill>
                  <a:srgbClr val="38A88F"/>
                </a:solidFill>
                <a:latin typeface="Inter Bold"/>
                <a:ea typeface="Inter Bold"/>
                <a:cs typeface="Inter Bold"/>
                <a:sym typeface="Inter Bold"/>
              </a:rPr>
              <a:t>data enrichment</a:t>
            </a:r>
            <a:r>
              <a:rPr lang="en-US" sz="2759" spc="-8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penting sebelum analisis untuk hasil yang andal.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7427" y="6723504"/>
            <a:ext cx="6551042" cy="101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8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Mari </a:t>
            </a:r>
            <a:r>
              <a:rPr lang="en-US" sz="2759" spc="-82" b="true">
                <a:solidFill>
                  <a:srgbClr val="38A88F"/>
                </a:solidFill>
                <a:latin typeface="Inter Bold"/>
                <a:ea typeface="Inter Bold"/>
                <a:cs typeface="Inter Bold"/>
                <a:sym typeface="Inter Bold"/>
              </a:rPr>
              <a:t>diskusikan implementasi</a:t>
            </a:r>
            <a:r>
              <a:rPr lang="en-US" sz="2759" spc="-8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metode ini dalam proyek Anda.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25244" y="3214004"/>
            <a:ext cx="8717426" cy="5148966"/>
          </a:xfrm>
          <a:custGeom>
            <a:avLst/>
            <a:gdLst/>
            <a:ahLst/>
            <a:cxnLst/>
            <a:rect r="r" b="b" t="t" l="l"/>
            <a:pathLst>
              <a:path h="5148966" w="8717426">
                <a:moveTo>
                  <a:pt x="0" y="0"/>
                </a:moveTo>
                <a:lnTo>
                  <a:pt x="8717426" y="0"/>
                </a:lnTo>
                <a:lnTo>
                  <a:pt x="8717426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40980" y="4336039"/>
            <a:ext cx="6225817" cy="115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3"/>
              </a:lnSpc>
            </a:pPr>
            <a:r>
              <a:rPr lang="en-US" b="true" sz="8151" spc="-242">
                <a:solidFill>
                  <a:srgbClr val="32C1A8"/>
                </a:solidFill>
                <a:latin typeface="Inter Bold"/>
                <a:ea typeface="Inter Bold"/>
                <a:cs typeface="Inter Bold"/>
                <a:sym typeface="Inter Bold"/>
              </a:rPr>
              <a:t>Terima Kasih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747196" y="5783021"/>
            <a:ext cx="3062584" cy="218640"/>
          </a:xfrm>
          <a:custGeom>
            <a:avLst/>
            <a:gdLst/>
            <a:ahLst/>
            <a:cxnLst/>
            <a:rect r="r" b="b" t="t" l="l"/>
            <a:pathLst>
              <a:path h="218640" w="3062584">
                <a:moveTo>
                  <a:pt x="0" y="0"/>
                </a:moveTo>
                <a:lnTo>
                  <a:pt x="3062584" y="0"/>
                </a:lnTo>
                <a:lnTo>
                  <a:pt x="3062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35454" y="6296432"/>
            <a:ext cx="7236870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spc="-7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Ada pertanyaan atau ingin berdiskusi lebih lanjut?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85154" y="6844437"/>
            <a:ext cx="6937470" cy="52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6"/>
              </a:lnSpc>
            </a:pPr>
            <a:r>
              <a:rPr lang="en-US" sz="2970" spc="-88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Hubungi kami untuk </a:t>
            </a:r>
            <a:r>
              <a:rPr lang="en-US" b="true" sz="2970" spc="-88">
                <a:solidFill>
                  <a:srgbClr val="38A88F"/>
                </a:solidFill>
                <a:latin typeface="Inter Bold"/>
                <a:ea typeface="Inter Bold"/>
                <a:cs typeface="Inter Bold"/>
                <a:sym typeface="Inter Bold"/>
              </a:rPr>
              <a:t>diskusi selanjutnya.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DAHYMOk5EN4</dc:identifier>
  <dcterms:modified xsi:type="dcterms:W3CDTF">2011-08-01T06:04:30Z</dcterms:modified>
  <cp:revision>1</cp:revision>
  <dc:title>Cleansing dan Data Enrichment</dc:title>
</cp:coreProperties>
</file>